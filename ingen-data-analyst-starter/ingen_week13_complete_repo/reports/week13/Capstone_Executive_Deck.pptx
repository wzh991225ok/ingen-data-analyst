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EXECUTIVE 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Public-Data Analytics on the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 Robotics Portfolio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· Competition · BI · Forecasting · Operations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weeks, five verticals,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only</a:t>
            </a:r>
            <a:pPr indent="0" marL="0">
              <a:buNone/>
            </a:pPr>
            <a:r>
              <a:rPr lang="en-US" sz="14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internal access required.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Ziheng Wang  ·  Data Analyst Intern  ·  inGen Dynamics (Futurenauts)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findings that matter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read one slide, read this 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19072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16824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is not a moat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1579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raised and defensible IP diverge. Margin structure predicts durability — not headline raises.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719072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13448" y="16824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biggest market isn't the loudest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21579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(indoor security) has the clearest near-term economics. Humanoid gets the capital and the headlines.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319272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81328" y="32826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≠ opportunity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37581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ranking is the near-inverse of market attractiveness. Sentinel: strong asset, weak share of voice.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3319272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13448" y="32826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 is up; models beat naive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37581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MASE &lt; 1.0 in 4 of 5 verticals. No single model wins everywhere — keep a portfolio.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4919472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81328" y="48828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Sentinel's alerts: persistence, not threshold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14400" y="53583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120-min persistence cuts alert load 33× (16.35 → 0.50/day) while recall rises to 88%.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663440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28232" y="4919472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13448" y="48828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is a parts problem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46520" y="53583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= 53% of cycle time, 100% waiting. Parts buffer −23% vs +1 engineer −8%.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was built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phases, thirteen self-contained modules, everything reproducible.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70048" cy="3200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40+ competitors, 12-dataset pipeline, DuckDB warehouse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29260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1600200"/>
            <a:ext cx="2670048" cy="3200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18288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21762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4–6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5146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301752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TAM/SAM/SOM, demand-signal index, peer financials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1600200"/>
            <a:ext cx="2670048" cy="3200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18288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1762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5146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platform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01752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3 dashboards, exec scorecard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0" y="29260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0" y="1600200"/>
            <a:ext cx="2670048" cy="3200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72600" y="18288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72600" y="21762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10–12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72600" y="25146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72600" y="301752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anomaly detection, process optimisation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983480"/>
            <a:ext cx="10927080" cy="96012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5138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or not stated  ·  ranges over false precision  ·  synthetic data always labelled  ·  fixed seeds + test suites  ·  methods validated against ground truth where it exists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sizing — ranges, not points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estimates disagree by an order of magnitude. That's the finding.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12680" y="4114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3A5BA0"/>
          </a:solidFill>
          <a:ln/>
        </p:spPr>
      </p:sp>
      <p:sp>
        <p:nvSpPr>
          <p:cNvPr id="5" name="Text 3"/>
          <p:cNvSpPr/>
          <p:nvPr/>
        </p:nvSpPr>
        <p:spPr>
          <a:xfrm>
            <a:off x="10012680" y="411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949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28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Prime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20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security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81965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8196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60520" y="18196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Guard-replacement economics vs a costed alternative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496312"/>
            <a:ext cx="6949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916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eldercare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88920" y="271576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27157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60520" y="2715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population; adoption-rate constrained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392424"/>
            <a:ext cx="6949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Senpai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813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88920" y="36118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3A5BA0"/>
          </a:solidFill>
          <a:ln/>
        </p:spPr>
      </p:sp>
      <p:sp>
        <p:nvSpPr>
          <p:cNvPr id="22" name="Text 20"/>
          <p:cNvSpPr/>
          <p:nvPr/>
        </p:nvSpPr>
        <p:spPr>
          <a:xfrm>
            <a:off x="2788920" y="36118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60520" y="3611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Steady; tied to budget cycles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288536"/>
            <a:ext cx="6949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416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Aido Rover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patrol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88920" y="450799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28" name="Text 26"/>
          <p:cNvSpPr/>
          <p:nvPr/>
        </p:nvSpPr>
        <p:spPr>
          <a:xfrm>
            <a:off x="2788920" y="45079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range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60520" y="45079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potential, high uncertainty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5184648"/>
            <a:ext cx="6949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5312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Aido Humanoid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5605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88920" y="5404104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34" name="Text 32"/>
          <p:cNvSpPr/>
          <p:nvPr/>
        </p:nvSpPr>
        <p:spPr>
          <a:xfrm>
            <a:off x="2788920" y="540410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range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60520" y="54041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 on future deployment, not a current pool</a:t>
            </a:r>
            <a:endParaRPr lang="en-US" sz="1050" dirty="0"/>
          </a:p>
        </p:txBody>
      </p:sp>
      <p:pic>
        <p:nvPicPr>
          <p:cNvPr id="36" name="Image 0" descr="/home/claude/cap_fig/tornado_senti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737360"/>
            <a:ext cx="3794760" cy="205740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7772400" y="4023360"/>
            <a:ext cx="3794760" cy="1874520"/>
          </a:xfrm>
          <a:prstGeom prst="roundRect">
            <a:avLst>
              <a:gd name="adj" fmla="val 3415"/>
            </a:avLst>
          </a:prstGeom>
          <a:solidFill>
            <a:srgbClr val="EEF3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800100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rate dominates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8001000" y="45720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vertical: penetration first, ASP second, unit count a distant third. Market size is mostly a go-to-market variable InGen partly controls — not a fixed external quantity.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 quoted ~$290M–$4.89bn; security robotics ~$4.7bn–$19bn. Every figure is a sourced range.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 — funding is not a moat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priority peers, real patents and headcounts, dated sources.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12680" y="4114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3A5BA0"/>
          </a:solidFill>
          <a:ln/>
        </p:spPr>
      </p:sp>
      <p:sp>
        <p:nvSpPr>
          <p:cNvPr id="5" name="Text 3"/>
          <p:cNvSpPr/>
          <p:nvPr/>
        </p:nvSpPr>
        <p:spPr>
          <a:xfrm>
            <a:off x="10012680" y="411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927080" cy="1508760"/>
          </a:xfrm>
          <a:prstGeom prst="roundRect">
            <a:avLst>
              <a:gd name="adj" fmla="val 4242"/>
            </a:avLst>
          </a:prstGeom>
          <a:solidFill>
            <a:srgbClr val="27306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raised and defensible IP diverge sharply.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23113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heavily funded humanoid companies are not the most patent-dense. Several quieter competitors hold stronger, earlier, more specific grants. Funding is the metric the trade press reports and the one that shapes internal anxiety — and it is the wrong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3429000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$1bn + thin patents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 chest funds runway, not defensibility.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3291840"/>
            <a:ext cx="3429000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$100M + dense position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3931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ground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43434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grants around a mechanism are durable.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3291840"/>
            <a:ext cx="3429000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0392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in Week 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3931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other side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43434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peers have defensible margin structures — not the biggest raises.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on purpose: real-time hiring counts (no dated snapshot) and vendor deployment claims sourced only to marketing.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≠ opportunity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ranking is the near-inverse of market attractiveness.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12680" y="4114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3A5BA0"/>
          </a:solidFill>
          <a:ln/>
        </p:spPr>
      </p:sp>
      <p:sp>
        <p:nvSpPr>
          <p:cNvPr id="5" name="Text 3"/>
          <p:cNvSpPr/>
          <p:nvPr/>
        </p:nvSpPr>
        <p:spPr>
          <a:xfrm>
            <a:off x="10012680" y="411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50" dirty="0"/>
          </a:p>
        </p:txBody>
      </p:sp>
      <p:pic>
        <p:nvPicPr>
          <p:cNvPr id="6" name="Image 0" descr="/home/claude/cap_fig/demand_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03504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61772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22376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inversion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223760" y="22128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 Rover leads on attention (64). Sentinel Prime AI — the clearest near-term economics — comes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(41).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0" y="2926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contradictory. Search and news measure attention. Sizing measures money. The gap is where the commercial opportunity hides.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23760" y="3794760"/>
            <a:ext cx="4069080" cy="685800"/>
          </a:xfrm>
          <a:prstGeom prst="roundRect">
            <a:avLst>
              <a:gd name="adj" fmla="val 9333"/>
            </a:avLst>
          </a:prstGeom>
          <a:solidFill>
            <a:srgbClr val="EEF3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06640" y="38862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= strong asset, weak share of voice. A marketing problem — solvable.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892040"/>
            <a:ext cx="109270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4400" y="50749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pain-points recur in every vertical: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reliability in cluttered real spaces, and the gap between demo behaviour and sustained field behaviour. Both are credibility problems — both answered by published field-reliability data.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benchmarks — margin structure is the moat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FY2024 filings. The profitable peers aren't 'robotics companies' as the press means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12680" y="4114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3A5BA0"/>
          </a:solidFill>
          <a:ln/>
        </p:spPr>
      </p:sp>
      <p:sp>
        <p:nvSpPr>
          <p:cNvPr id="5" name="Text 3"/>
          <p:cNvSpPr/>
          <p:nvPr/>
        </p:nvSpPr>
        <p:spPr>
          <a:xfrm>
            <a:off x="10012680" y="411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27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234440"/>
                <a:gridCol w="1188720"/>
                <a:gridCol w="5760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B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B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B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B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B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Teradyne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$2,820M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&amp; measurement — the profile robotics aspires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vision — highest margin; a components business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$1,790M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automation — scale, thin margin, integration economics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$681.8M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robotics pure-play — losing money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206240"/>
            <a:ext cx="10927080" cy="1691640"/>
          </a:xfrm>
          <a:prstGeom prst="roundRect">
            <a:avLst>
              <a:gd name="adj" fmla="val 3784"/>
            </a:avLst>
          </a:prstGeom>
          <a:solidFill>
            <a:srgbClr val="27306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440740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AI's ~$1.68bn raise is ~2.5× iRobot's entire FY2024 revenue.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48463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is not the constraint in this industry — and it is not the moat either. What separates durable from fragile is whether you own something specific enough to charge for. For InGen: Sentinel-style deployments sold against a costed guard alternative have a defensible price story. Volume consumer hardware, on this evidence, does not.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 platform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warehouse an analytics team could actually query, and dashboards on top.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12680" y="4114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3A5BA0"/>
          </a:solidFill>
          <a:ln/>
        </p:spPr>
      </p:sp>
      <p:sp>
        <p:nvSpPr>
          <p:cNvPr id="5" name="Text 3"/>
          <p:cNvSpPr/>
          <p:nvPr/>
        </p:nvSpPr>
        <p:spPr>
          <a:xfrm>
            <a:off x="10012680" y="411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7–9</a:t>
            </a:r>
            <a:endParaRPr lang="en-US" sz="1050" dirty="0"/>
          </a:p>
        </p:txBody>
      </p:sp>
      <p:pic>
        <p:nvPicPr>
          <p:cNvPr id="6" name="Image 0" descr="/home/claude/cap_fig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84048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0" y="1691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09160" y="2039112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facts (telemetry, tickets, pipeline) + 4 dimensions. Surrogate keys, documented grain, zero orphan FKs on every load.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709160" y="2834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 rows, fixed seed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09160" y="3182112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— no internal data was available. It fixes the shape, not the facts.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09160" y="3977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Portable by design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09160" y="4325112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mirrors what an InGen team would hold, so the 15-query library and every dashboard move to real data unchanged.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09160" y="5120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tools, 3 jobs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09160" y="5468112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(external market view) · Looker (operations) · Power BI (exec scorecard, 10 DAX measures).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are built and specified; publishing to the live services runs through personal accounts and was not completed. No live URLs are claimed.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Forecasts — models beat naive in 4 of 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per vertical, backtested on a held-out year. MASE &lt; 1.0 beats seasonal-naive.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12680" y="4114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C77400"/>
          </a:solidFill>
          <a:ln/>
        </p:spPr>
      </p:sp>
      <p:sp>
        <p:nvSpPr>
          <p:cNvPr id="5" name="Text 3"/>
          <p:cNvSpPr/>
          <p:nvPr/>
        </p:nvSpPr>
        <p:spPr>
          <a:xfrm>
            <a:off x="10012680" y="411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005840"/>
                <a:gridCol w="10058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B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B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B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B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Senpai — education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Aido Humanoid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Aido Rover — patrol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— 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Fari — eldercare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206240"/>
            <a:ext cx="55778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4389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model wins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75488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 twice, Prophet twice, XGBoost once. Keep a small portfolio and re-select per series rather than standardising on one algorithm. Fari sits at MASE 1.00 — no better than naive, and reported as such.</a:t>
            </a:r>
            <a:endParaRPr lang="en-US" sz="1150" dirty="0"/>
          </a:p>
        </p:txBody>
      </p:sp>
      <p:pic>
        <p:nvPicPr>
          <p:cNvPr id="10" name="Image 0" descr="/home/claude/cap_fig/bass_human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45920"/>
            <a:ext cx="5074920" cy="21945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92240" y="4023360"/>
            <a:ext cx="507492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720840" y="4206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Humanoid: shape, not level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720840" y="4572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 curve fits Goldman's anchors exactly (20k/2025 → 250k/2030 → 1.4M/2035). But Morgan Stanley projects ~13M in service by 2035 — ~3× apart. That spread is why humanoid is a scenario, not a forecast.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search-interest momentum (0–100) — a relative demand read, not a unit forecast.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Sentinel: you can't threshold your way out of model quality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public benchmarks (NAB — MIT; SKAB — GPL-3.0). No InGen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12680" y="4114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C77400"/>
          </a:solidFill>
          <a:ln/>
        </p:spPr>
      </p:sp>
      <p:sp>
        <p:nvSpPr>
          <p:cNvPr id="5" name="Text 3"/>
          <p:cNvSpPr/>
          <p:nvPr/>
        </p:nvSpPr>
        <p:spPr>
          <a:xfrm>
            <a:off x="10012680" y="411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27080" cy="1371600"/>
          </a:xfrm>
          <a:prstGeom prst="roundRect">
            <a:avLst>
              <a:gd name="adj" fmla="val 4667"/>
            </a:avLst>
          </a:prstGeom>
          <a:solidFill>
            <a:srgbClr val="27306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80% recall, the false-alarm rate bottoms out near 13% — whatever threshold we pick.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ceiling is set by the model's discriminative power (AP ≈ 0.51), not by threshold policy. The stated 5% budget is unreachable at that recall — and we say so rather than quietly relaxing the bar.</a:t>
            </a:r>
            <a:endParaRPr lang="en-US" sz="1250" dirty="0"/>
          </a:p>
        </p:txBody>
      </p:sp>
      <p:pic>
        <p:nvPicPr>
          <p:cNvPr id="9" name="Image 0" descr="/home/claude/cap_fig/pr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08960"/>
            <a:ext cx="585216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20840" y="3108960"/>
            <a:ext cx="484632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49440" y="3291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detectors, identical splits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49440" y="3657600"/>
            <a:ext cx="4434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· One-Class SVM · LOF · AutoEncoder (PyOD) — against an EWMA control chart, the thing a plant engineer would already do.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leads NAB (F1 0.555), LOF leads SKAB (F1 0.545). Both clear the baseline — the bar that justifies the complexity.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unsupervised on a clean warm-up window — how a Sentinel unit would be baselined at commissioning.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...but persistence cuts alert load 33×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point-level rate is the wrong metric. Operators experience alerts, not readings.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12680" y="4114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C77400"/>
          </a:solidFill>
          <a:ln/>
        </p:spPr>
      </p:sp>
      <p:sp>
        <p:nvSpPr>
          <p:cNvPr id="5" name="Text 3"/>
          <p:cNvSpPr/>
          <p:nvPr/>
        </p:nvSpPr>
        <p:spPr>
          <a:xfrm>
            <a:off x="10012680" y="411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050" dirty="0"/>
          </a:p>
        </p:txBody>
      </p:sp>
      <p:pic>
        <p:nvPicPr>
          <p:cNvPr id="6" name="Image 0" descr="/home/claude/cap_fig/operational_fron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67512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600200"/>
            <a:ext cx="39776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18120" y="17099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16.35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235440" y="1764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alerts / day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2354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filter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589520" y="2743200"/>
            <a:ext cx="39776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18120" y="28529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23544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alerts / day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23544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120-min persistence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589520" y="388620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818120" y="4069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RISES to 88%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18120" y="44074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4/4 real failures still caught. Real failures are sustained; false positives are isolated spikes.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977640"/>
            <a:ext cx="667512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8680" y="4160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thresholds lost — and the reason is the lesson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68680" y="4526280"/>
            <a:ext cx="6263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quantile cut false alarms (13.4% → 3.3%) but collapsed recall (80% → 33%). NAB's failures run ~2 days, so a rolling baseline absorbs the anomaly and lifts the threshold exactly when it should hold. Survived a full parameter sweep; a baseline-freeze test confirmed the diagnosis. Verdict: fixed + persistence, re-baselined on a schedule.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two tiers — fast (intrusion) + sustained (degradation). Thresholds transfer as a method, not as constants.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is a parts problem, not a people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fleet-support cycle time actually goes.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12680" y="4114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C77400"/>
          </a:solidFill>
          <a:ln/>
        </p:spPr>
      </p:sp>
      <p:sp>
        <p:nvSpPr>
          <p:cNvPr id="5" name="Text 3"/>
          <p:cNvSpPr/>
          <p:nvPr/>
        </p:nvSpPr>
        <p:spPr>
          <a:xfrm>
            <a:off x="10012680" y="411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050" dirty="0"/>
          </a:p>
        </p:txBody>
      </p:sp>
      <p:pic>
        <p:nvPicPr>
          <p:cNvPr id="6" name="Image 0" descr="/home/claude/cap_fig/wait_vs_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49224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554480"/>
            <a:ext cx="4160520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35240" y="17373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635240" y="23774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process time is Parts &amp; dispatch — and 100% of it is unstaffed waiting.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35240" y="31089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working during it, so no amount of headcount shortens it. On-site repair, by contrast, is 48% queueing — which headcount can shorten. That distinction drives the whole recommendation.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343400"/>
            <a:ext cx="10927080" cy="1600200"/>
          </a:xfrm>
          <a:prstGeom prst="roundRect">
            <a:avLst>
              <a:gd name="adj" fmla="val 4000"/>
            </a:avLst>
          </a:prstGeom>
          <a:solidFill>
            <a:srgbClr val="27306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05840" y="45262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drivers you'd reach for explain 4% of the variance. One structural fact explains 72%.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05840" y="49377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severity, geography, weekday, team workload → R² = 0.04. Add "did this ticket need a physical part?" → R² = 0.72, and a dispatched ticket takes +578% longer [+555%, +601%]. Severity and queue length are real but second-order.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fix would actually buy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replications per scenario, paired to identical seeds, 95% CIs.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12680" y="4114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C77400"/>
          </a:solidFill>
          <a:ln/>
        </p:spPr>
      </p:sp>
      <p:sp>
        <p:nvSpPr>
          <p:cNvPr id="5" name="Text 3"/>
          <p:cNvSpPr/>
          <p:nvPr/>
        </p:nvSpPr>
        <p:spPr>
          <a:xfrm>
            <a:off x="10012680" y="411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050" dirty="0"/>
          </a:p>
        </p:txBody>
      </p:sp>
      <p:pic>
        <p:nvPicPr>
          <p:cNvPr id="6" name="Image 0" descr="/home/claude/cap_fig/scenario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1092708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886200"/>
            <a:ext cx="34290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40416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−23%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45262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parts buffer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8646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falls 64h → 47h. The tail is what customers complain about.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34840" y="3886200"/>
            <a:ext cx="34290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09160" y="40416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5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709160" y="45262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 Field Ops FTE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09160" y="48646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zeroes field-queue wait (4.9h → 0.4h) — but that stage is only ~15% of the process.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229600" y="3886200"/>
            <a:ext cx="34290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03920" y="40416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−1.9%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03920" y="45262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Reroute Tier-1 triage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03920" y="48646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significant. Triage is 4% of process time. The obvious lever does nothing.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 in practice: perfect staffing of a 15% stage cannot buy more than 15%. Both changes together: −29%.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public data could not answer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because the caveats matter as much as the findings.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819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internal InGen data — anywhere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194767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public or clearly-labelled synthetic. Market bottom-ups use assumed penetration, not observed conversion. These analyses are directional, not decision-grade.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5819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synthetic warehouse fixes shape, not fact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46520" y="194767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7–9 and 12 rest on generated data. Nothing there measures InGen's actual fleet, support org or pipeline. Scorecard KPI targets are my assumptions.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0906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Forecasts are momentum reads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45643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0–100 search index answers "is attention rising?" — not "how many units will we sell?"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292608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0906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12's numbers are model properties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45643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−23% is a simulation result, not a measurement. The method was validated (7/9 generating effects recovered); the number still needs real 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5994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built, not published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496519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extracts, prototypes and design log are complete. No live URLs exist, and none are claimed.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443484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45994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out on purpose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496519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2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hiring counts (no dated snapshot), vendor deployment claims (marketing-sourced), frozen EV/Revenue multiples.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is the exception that proves the point: real public benchmarks were reachable, and its results are measurements on real sensor data.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do next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6492240" cy="960120"/>
          </a:xfrm>
          <a:prstGeom prst="roundRect">
            <a:avLst>
              <a:gd name="adj" fmla="val 6667"/>
            </a:avLst>
          </a:prstGeom>
          <a:solidFill>
            <a:srgbClr val="27306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463040"/>
            <a:ext cx="502920" cy="50292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37360" y="13624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Sentinel Prime AI harder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on market attractiveness, last on demand signal — the widest gap in the portfolio.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6492240" cy="960120"/>
          </a:xfrm>
          <a:prstGeom prst="roundRect">
            <a:avLst>
              <a:gd name="adj" fmla="val 6667"/>
            </a:avLst>
          </a:prstGeom>
          <a:solidFill>
            <a:srgbClr val="27306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2514600"/>
            <a:ext cx="502920" cy="50292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41401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a regional parts buffer before hiring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274320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−23% vs −8%. Parts is 53% of process time and 100% waiting.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6492240" cy="960120"/>
          </a:xfrm>
          <a:prstGeom prst="roundRect">
            <a:avLst>
              <a:gd name="adj" fmla="val 6667"/>
            </a:avLst>
          </a:prstGeom>
          <a:solidFill>
            <a:srgbClr val="27306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3566160"/>
            <a:ext cx="502920" cy="50292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37360" y="346557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two-tier alerting on Sentinel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79476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tier for intrusion; 120-min sustained tier at ~0.5 false alerts/day.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389120"/>
            <a:ext cx="6492240" cy="960120"/>
          </a:xfrm>
          <a:prstGeom prst="roundRect">
            <a:avLst>
              <a:gd name="adj" fmla="val 6667"/>
            </a:avLst>
          </a:prstGeom>
          <a:solidFill>
            <a:srgbClr val="27306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4617720"/>
            <a:ext cx="502920" cy="50292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37360" y="45171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humanoid as an option, not a plan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484632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analysts differ ~3× on 2035. Scenario-bound 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89520" y="1234440"/>
            <a:ext cx="3977640" cy="4069080"/>
          </a:xfrm>
          <a:prstGeom prst="roundRect">
            <a:avLst>
              <a:gd name="adj" fmla="val 1609"/>
            </a:avLst>
          </a:prstGeom>
          <a:solidFill>
            <a:srgbClr val="27306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6C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638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ask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63840" y="19202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access to one small, anonymized slice of real InGen data.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63840" y="269748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synthetic warehouse already matches the intended schema, so real data slots in with minimal rework — and it dissolves most of the limitations at once: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 warehouse becomes real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 dashboards become operational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Week 12's diagnostic becomes a measurement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 forecasts gain a calibration target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715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1–13 complete  ·  13 self-contained modules, each with README, plan, status and tests  ·  HANDOFF.md documents how to pick up every workstream  ·  thank you.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Public-Data Analytics on the InGen Robotics Portfolio — Executive Deck</dc:title>
  <dc:subject>PptxGenJS Presentation</dc:subject>
  <dc:creator>Ziheng Wang</dc:creator>
  <cp:lastModifiedBy>Ziheng Wang</cp:lastModifiedBy>
  <cp:revision>1</cp:revision>
  <dcterms:created xsi:type="dcterms:W3CDTF">2026-07-16T07:02:44Z</dcterms:created>
  <dcterms:modified xsi:type="dcterms:W3CDTF">2026-07-16T07:02:44Z</dcterms:modified>
</cp:coreProperties>
</file>